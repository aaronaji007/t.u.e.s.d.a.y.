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FA0DA-DE7C-CB1C-D8B3-071942076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14F9B-A711-06E4-2B63-CCCB1CD88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2A8C7-7039-75ED-ADA3-C30404291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1C797-C2A3-2E56-1A45-6976F439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61993-82B3-FE4F-4F3B-291AE847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3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A8FC-8FE5-599D-EEE5-F1D40324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C0F44-0FB8-1D3A-59B6-80047DA57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5C361-6182-2C27-F147-D067B1E4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8BCB0-97E4-4E93-0124-FF05C04F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D5965-AA59-EF7A-92E1-A5C834A2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938B-BDC8-9726-D54D-FAA24C06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53344-AE28-7A83-2B53-94AD8D371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5AB1B-3A95-A5BF-5632-F01D62D1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04097-A877-3718-52F3-0E02513B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06327-014D-6688-9063-649F794E8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1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46274-6FB3-3D0C-1D42-7FDE4D3B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EF50C-B6D1-1C0F-6A6B-78168F653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A6C59-8ADB-70E7-01DF-438AE3ABC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89EB0-2253-D8E4-C43F-FAE74453D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5CC02-C1C4-5850-34BE-665AC62C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3C2C4-4276-E7C7-07ED-3F0EA779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580C-6133-5192-1109-08C6CC155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84799-434D-976E-6257-20DD61A8D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861EA-3A81-B10E-FDBB-3D5E76450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2F284-B08D-9A21-C8C2-F2D4C0582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94B135-185F-2811-371C-7A5F7B1AD3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310E45-03E2-8F1E-1E34-A82D73C3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B1B34B-23B6-FF8A-C158-BF91B159D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16FDF7-703E-CADC-2275-9F2E7F853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A8563-847B-B41E-1AEB-494BFCEBB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B16EB-6AB9-ABA7-6F31-B9FA6719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C177B-FCC7-1130-A545-2513B2E35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C7E35-0B96-5F6C-FBCD-F389CCD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1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F4104-FFEE-7750-0EF9-7F814929A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1F545A-AA39-00FB-E101-703D9738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0F546-B6D4-CF96-A565-151DF49F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22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7BE1-6856-D320-8D18-103B2428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10DB8-A564-7800-2943-8251883A6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89C57-7161-40DC-EEE7-1C70D4107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2E08F-366F-A2AA-4236-E8A404BA0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11AFB-8994-3DF9-57F2-E185112C7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E2EFF-4449-FA74-3674-F5F3E69A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C965B-FC6B-0925-1823-B84EBF9A1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B1AE42-F22B-9F19-1298-A357B05B8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35D81-3D64-BB2E-1DF7-DCFA04305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F2E54-E947-A907-6244-925EF21F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5A018-BB75-555A-75DE-10A3C9C8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E591E-028C-F8F0-874E-C7AC61B0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88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B2105-1817-0E51-D3DA-A9ECBCD5A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8F0F5-99AE-9556-B527-06F4B43A4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0ADAC-22AA-473D-7ACE-ABA212FE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271BA-BB9D-ED52-3406-956D4173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CC899-A9B8-1394-3E10-6D2DEB7B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6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E7A1DC-680D-892F-0287-A1032A487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8BDBD-2C12-33CE-FBB6-6E82FCA18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4821E-591F-54CD-A07F-CAFA992D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B720C-1E62-4EA9-4508-13622E7A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EB526-8BE5-82AE-947E-6F263CD8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50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124AEF-9E5C-2743-407E-3859FAAA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5A0D8-3309-D290-57CB-4021F35E3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BC91F-9A6D-22E3-E68A-2B9709587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5B338-615D-4053-9BE9-C6B08D46432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0C09E-D1DA-BAF9-9B97-D6C94FD88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B800C-E42B-23A2-001D-47D5AEDAE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DB5F9-B655-494D-AE0B-7136111A6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1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47672-5E9A-ECBC-86A7-4306C43557AF}"/>
              </a:ext>
            </a:extLst>
          </p:cNvPr>
          <p:cNvSpPr txBox="1"/>
          <p:nvPr/>
        </p:nvSpPr>
        <p:spPr>
          <a:xfrm>
            <a:off x="508000" y="317500"/>
            <a:ext cx="9906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000066"/>
                </a:solidFill>
                <a:latin typeface="Segoe UI" panose="020B0502040204020203" pitchFamily="34" charset="0"/>
              </a:rPr>
              <a:t>SLIDE 1 : TEAM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F4A91-16B9-42CD-C347-B56DCE84B7BE}"/>
              </a:ext>
            </a:extLst>
          </p:cNvPr>
          <p:cNvSpPr txBox="1"/>
          <p:nvPr/>
        </p:nvSpPr>
        <p:spPr>
          <a:xfrm>
            <a:off x="9525000" y="317500"/>
            <a:ext cx="215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B600"/>
                </a:solidFill>
                <a:latin typeface="Consolas" panose="020B0609020204030204" pitchFamily="49" charset="0"/>
              </a:rPr>
              <a:t>TUESDAY AI SOC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D704F6-45FF-CC36-D72A-22A20E40AE9A}"/>
              </a:ext>
            </a:extLst>
          </p:cNvPr>
          <p:cNvCxnSpPr/>
          <p:nvPr/>
        </p:nvCxnSpPr>
        <p:spPr>
          <a:xfrm>
            <a:off x="508000" y="990600"/>
            <a:ext cx="11176000" cy="0"/>
          </a:xfrm>
          <a:prstGeom prst="line">
            <a:avLst/>
          </a:prstGeom>
          <a:ln w="19050">
            <a:solidFill>
              <a:srgbClr val="00B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46BE5AD-9469-BB7B-BC70-F9A9D9929A48}"/>
              </a:ext>
            </a:extLst>
          </p:cNvPr>
          <p:cNvSpPr txBox="1"/>
          <p:nvPr/>
        </p:nvSpPr>
        <p:spPr>
          <a:xfrm>
            <a:off x="508000" y="1143000"/>
            <a:ext cx="11176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0F5FA"/>
                </a:solidFill>
                <a:latin typeface="Segoe UI" panose="020B0502040204020203" pitchFamily="34" charset="0"/>
              </a:rPr>
              <a:t>TUESDAY - Autonomous Multi-Agent AI SOC</a:t>
            </a:r>
            <a:r>
              <a:rPr lang="en-US" sz="1400" b="1">
                <a:solidFill>
                  <a:srgbClr val="8CA9B4"/>
                </a:solidFill>
                <a:latin typeface="Segoe UI" panose="020B0502040204020203" pitchFamily="34" charset="0"/>
              </a:rPr>
              <a:t>
Threat Unification Engine for Security Defense And Your SOC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0ABFF4-6B8A-FCF4-72D8-93BEDD10D7EE}"/>
              </a:ext>
            </a:extLst>
          </p:cNvPr>
          <p:cNvSpPr/>
          <p:nvPr/>
        </p:nvSpPr>
        <p:spPr>
          <a:xfrm>
            <a:off x="508000" y="2222500"/>
            <a:ext cx="5334000" cy="41910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AE509-067C-DEEB-1A1C-5D342545C310}"/>
              </a:ext>
            </a:extLst>
          </p:cNvPr>
          <p:cNvSpPr txBox="1"/>
          <p:nvPr/>
        </p:nvSpPr>
        <p:spPr>
          <a:xfrm>
            <a:off x="698500" y="2349500"/>
            <a:ext cx="4953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B600"/>
                </a:solidFill>
                <a:latin typeface="Segoe UI" panose="020B0502040204020203" pitchFamily="34" charset="0"/>
              </a:rPr>
              <a:t>EVENT AND DOMAIN METADATA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0DE0A-25B6-1401-32C2-C96BF4F075E2}"/>
              </a:ext>
            </a:extLst>
          </p:cNvPr>
          <p:cNvSpPr txBox="1"/>
          <p:nvPr/>
        </p:nvSpPr>
        <p:spPr>
          <a:xfrm>
            <a:off x="698500" y="2794000"/>
            <a:ext cx="4953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Team Name : TUESDAY
Domain    : AI-Driven Cybersecurity and Autonomous SOC Operations
Event     : Neurobots National Level Hackathon 2026 (Round 2)
College   : [Your College / Institution Name]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6A9D73-8743-0B57-9351-63864F6E08FC}"/>
              </a:ext>
            </a:extLst>
          </p:cNvPr>
          <p:cNvSpPr/>
          <p:nvPr/>
        </p:nvSpPr>
        <p:spPr>
          <a:xfrm>
            <a:off x="6096000" y="2222500"/>
            <a:ext cx="5588000" cy="41910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2CD482-8A97-FE5A-FB23-725CE5F4AF31}"/>
              </a:ext>
            </a:extLst>
          </p:cNvPr>
          <p:cNvSpPr txBox="1"/>
          <p:nvPr/>
        </p:nvSpPr>
        <p:spPr>
          <a:xfrm>
            <a:off x="6286500" y="2349500"/>
            <a:ext cx="5207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00066"/>
                </a:solidFill>
                <a:latin typeface="Segoe UI" panose="020B0502040204020203" pitchFamily="34" charset="0"/>
              </a:rPr>
              <a:t>TEAM MEMBERS (8-MEMBER SWARM)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5D256-27C0-B7EB-A80C-C55EFB778575}"/>
              </a:ext>
            </a:extLst>
          </p:cNvPr>
          <p:cNvSpPr txBox="1"/>
          <p:nvPr/>
        </p:nvSpPr>
        <p:spPr>
          <a:xfrm>
            <a:off x="6286500" y="2794000"/>
            <a:ext cx="5207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1. Abhijith Suresh  - Project Lead and Full-Stack Integration
2. Aaron Aji        - Backend Engineering and API Server
3. Mohammed Sabith  - AI/LLM Engineering and ReAct Loops
4. Savio Prince     - Frontend/UI and Terminal Experience
5. Aditya Menon     - Network Twin and Data Visualization
6. Joseph John      - Security Research and Attack Vectors
7. Kevin Benny      - Threat Intel and Rule Engine
8. Harigovind       - DevOps, Benchmarking and Testing</a:t>
            </a:r>
          </a:p>
        </p:txBody>
      </p:sp>
    </p:spTree>
    <p:extLst>
      <p:ext uri="{BB962C8B-B14F-4D97-AF65-F5344CB8AC3E}">
        <p14:creationId xmlns:p14="http://schemas.microsoft.com/office/powerpoint/2010/main" val="200092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0A5FD4-F8F0-0D60-CFF0-75B0D6951574}"/>
              </a:ext>
            </a:extLst>
          </p:cNvPr>
          <p:cNvSpPr txBox="1"/>
          <p:nvPr/>
        </p:nvSpPr>
        <p:spPr>
          <a:xfrm>
            <a:off x="508000" y="317500"/>
            <a:ext cx="9906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000066"/>
                </a:solidFill>
                <a:latin typeface="Segoe UI" panose="020B0502040204020203" pitchFamily="34" charset="0"/>
              </a:rPr>
              <a:t>SLIDE 2 : 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57BB8-2FA5-9F54-7B8E-BBE71BF1A26B}"/>
              </a:ext>
            </a:extLst>
          </p:cNvPr>
          <p:cNvSpPr txBox="1"/>
          <p:nvPr/>
        </p:nvSpPr>
        <p:spPr>
          <a:xfrm>
            <a:off x="9525000" y="317500"/>
            <a:ext cx="215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B600"/>
                </a:solidFill>
                <a:latin typeface="Consolas" panose="020B0609020204030204" pitchFamily="49" charset="0"/>
              </a:rPr>
              <a:t>TUESDAY AI SOC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AD68DA-2488-A182-D4CC-E5035BB70A3F}"/>
              </a:ext>
            </a:extLst>
          </p:cNvPr>
          <p:cNvCxnSpPr/>
          <p:nvPr/>
        </p:nvCxnSpPr>
        <p:spPr>
          <a:xfrm>
            <a:off x="508000" y="990600"/>
            <a:ext cx="11176000" cy="0"/>
          </a:xfrm>
          <a:prstGeom prst="line">
            <a:avLst/>
          </a:prstGeom>
          <a:ln w="19050">
            <a:solidFill>
              <a:srgbClr val="00B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5E54B89-54DB-BC23-83F7-83B3E70456DE}"/>
              </a:ext>
            </a:extLst>
          </p:cNvPr>
          <p:cNvSpPr/>
          <p:nvPr/>
        </p:nvSpPr>
        <p:spPr>
          <a:xfrm>
            <a:off x="508000" y="1270000"/>
            <a:ext cx="11176000" cy="15875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E1B83-6E39-7A4F-7135-1F5623A9185A}"/>
              </a:ext>
            </a:extLst>
          </p:cNvPr>
          <p:cNvSpPr txBox="1"/>
          <p:nvPr/>
        </p:nvSpPr>
        <p:spPr>
          <a:xfrm>
            <a:off x="698500" y="1397000"/>
            <a:ext cx="10795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00066"/>
                </a:solidFill>
                <a:latin typeface="Segoe UI" panose="020B0502040204020203" pitchFamily="34" charset="0"/>
              </a:rPr>
              <a:t>1. WHAT PROBLEM ARE WE SOLVING?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A43DB-E5D1-E512-4FB9-BB7C6C559EFB}"/>
              </a:ext>
            </a:extLst>
          </p:cNvPr>
          <p:cNvSpPr txBox="1"/>
          <p:nvPr/>
        </p:nvSpPr>
        <p:spPr>
          <a:xfrm>
            <a:off x="698500" y="1841500"/>
            <a:ext cx="10795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- Modern SOCs ingest 10,000+ alerts daily from EDR, SIEM, Firewall and Cloud logs.
- Tier-1 analysts spend 15-45 minutes per alert manually correlating indicators.
- Context switching across 5+ disconnected threat intel tools creates investigation fatigue.
- High false-positive rates (&gt;65%) mask real threats until encryption or exfiltration starts.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975EFF-8E39-0085-4D5F-72A9AA8DD9FE}"/>
              </a:ext>
            </a:extLst>
          </p:cNvPr>
          <p:cNvSpPr/>
          <p:nvPr/>
        </p:nvSpPr>
        <p:spPr>
          <a:xfrm>
            <a:off x="508000" y="3048000"/>
            <a:ext cx="11176000" cy="15240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18D7E-FCAE-0CEB-364B-1591273A3B27}"/>
              </a:ext>
            </a:extLst>
          </p:cNvPr>
          <p:cNvSpPr txBox="1"/>
          <p:nvPr/>
        </p:nvSpPr>
        <p:spPr>
          <a:xfrm>
            <a:off x="698500" y="3175000"/>
            <a:ext cx="10795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B600"/>
                </a:solidFill>
                <a:latin typeface="Segoe UI" panose="020B0502040204020203" pitchFamily="34" charset="0"/>
              </a:rPr>
              <a:t>2. WHY IS IT IMPORTANT?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522DA-58CC-070B-F059-75399BA4E671}"/>
              </a:ext>
            </a:extLst>
          </p:cNvPr>
          <p:cNvSpPr txBox="1"/>
          <p:nvPr/>
        </p:nvSpPr>
        <p:spPr>
          <a:xfrm>
            <a:off x="698500" y="3619500"/>
            <a:ext cx="1079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- Mean Time to Respond (MTTR) directly dictates breach cost (IBM Cost of Breach Report).
- Ransomware and APT supply chain attacks execute payload stages in under 15 minutes.
- Manual triage is too slow; small/medium enterprises cannot afford + annual SOAR tool licenses.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12BEC0-C12C-E49D-66CF-2A51259121AC}"/>
              </a:ext>
            </a:extLst>
          </p:cNvPr>
          <p:cNvSpPr/>
          <p:nvPr/>
        </p:nvSpPr>
        <p:spPr>
          <a:xfrm>
            <a:off x="508000" y="4762500"/>
            <a:ext cx="11176000" cy="15875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74CD07-87E3-7786-F901-F494CF2CB10B}"/>
              </a:ext>
            </a:extLst>
          </p:cNvPr>
          <p:cNvSpPr txBox="1"/>
          <p:nvPr/>
        </p:nvSpPr>
        <p:spPr>
          <a:xfrm>
            <a:off x="698500" y="4889500"/>
            <a:ext cx="10795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00066"/>
                </a:solidFill>
                <a:latin typeface="Segoe UI" panose="020B0502040204020203" pitchFamily="34" charset="0"/>
              </a:rPr>
              <a:t>3. TARGET 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DD7333-45A2-8A98-911E-2352E439B65B}"/>
              </a:ext>
            </a:extLst>
          </p:cNvPr>
          <p:cNvSpPr txBox="1"/>
          <p:nvPr/>
        </p:nvSpPr>
        <p:spPr>
          <a:xfrm>
            <a:off x="698500" y="5334000"/>
            <a:ext cx="1079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- Tier-1 and Tier-2 SOC Security Analysts seeking automated threat triage.
- Managed Security Service Providers (MSSPs) managing multi-tenant customer enclaves.
- Enterprise Security Incident Response Teams (CSIRTs) and Air-Gapped Defense SOCs.</a:t>
            </a:r>
          </a:p>
        </p:txBody>
      </p:sp>
    </p:spTree>
    <p:extLst>
      <p:ext uri="{BB962C8B-B14F-4D97-AF65-F5344CB8AC3E}">
        <p14:creationId xmlns:p14="http://schemas.microsoft.com/office/powerpoint/2010/main" val="1004266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E7C43A-CE0D-1723-8890-B5C5D1CAD48E}"/>
              </a:ext>
            </a:extLst>
          </p:cNvPr>
          <p:cNvSpPr txBox="1"/>
          <p:nvPr/>
        </p:nvSpPr>
        <p:spPr>
          <a:xfrm>
            <a:off x="508000" y="317500"/>
            <a:ext cx="9906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000066"/>
                </a:solidFill>
                <a:latin typeface="Segoe UI" panose="020B0502040204020203" pitchFamily="34" charset="0"/>
              </a:rPr>
              <a:t>SLIDE 3 : PROPOSED SOLUTION &amp; INNOVATION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2E6C4-C74F-7D29-9EE4-FC318F7695E3}"/>
              </a:ext>
            </a:extLst>
          </p:cNvPr>
          <p:cNvSpPr txBox="1"/>
          <p:nvPr/>
        </p:nvSpPr>
        <p:spPr>
          <a:xfrm>
            <a:off x="9525000" y="317500"/>
            <a:ext cx="215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B600"/>
                </a:solidFill>
                <a:latin typeface="Consolas" panose="020B0609020204030204" pitchFamily="49" charset="0"/>
              </a:rPr>
              <a:t>TUESDAY AI SOC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AD903-3D4B-C302-5D78-7293CF1E5A95}"/>
              </a:ext>
            </a:extLst>
          </p:cNvPr>
          <p:cNvCxnSpPr/>
          <p:nvPr/>
        </p:nvCxnSpPr>
        <p:spPr>
          <a:xfrm>
            <a:off x="508000" y="990600"/>
            <a:ext cx="11176000" cy="0"/>
          </a:xfrm>
          <a:prstGeom prst="line">
            <a:avLst/>
          </a:prstGeom>
          <a:ln w="19050">
            <a:solidFill>
              <a:srgbClr val="00B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72F3AB8-AA13-C856-EE57-76E518252A60}"/>
              </a:ext>
            </a:extLst>
          </p:cNvPr>
          <p:cNvSpPr/>
          <p:nvPr/>
        </p:nvSpPr>
        <p:spPr>
          <a:xfrm>
            <a:off x="508000" y="1270000"/>
            <a:ext cx="5334000" cy="51435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87F33-1EC0-3157-5750-FBE25E6E2A5A}"/>
              </a:ext>
            </a:extLst>
          </p:cNvPr>
          <p:cNvSpPr txBox="1"/>
          <p:nvPr/>
        </p:nvSpPr>
        <p:spPr>
          <a:xfrm>
            <a:off x="698500" y="1397000"/>
            <a:ext cx="4953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B600"/>
                </a:solidFill>
                <a:latin typeface="Segoe UI" panose="020B0502040204020203" pitchFamily="34" charset="0"/>
              </a:rPr>
              <a:t>CORE SOLUTION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7CFBB-7DFE-811A-79C0-7FFF6236224B}"/>
              </a:ext>
            </a:extLst>
          </p:cNvPr>
          <p:cNvSpPr txBox="1"/>
          <p:nvPr/>
        </p:nvSpPr>
        <p:spPr>
          <a:xfrm>
            <a:off x="698500" y="1841500"/>
            <a:ext cx="4953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TUESDAY is an autonomous, local-first multi-agent AI SOC platform.
It ingests raw SIEM alerts, breaks them into specialized sub-tasks across an 8-agent AI swarm, executes real tool calling (Sigma/YARA/IOC lookups), reaches weighted consensus, and executes autonomous or human-gated containment.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224083-D0CC-B073-9F9C-2B04BDA2F02C}"/>
              </a:ext>
            </a:extLst>
          </p:cNvPr>
          <p:cNvSpPr/>
          <p:nvPr/>
        </p:nvSpPr>
        <p:spPr>
          <a:xfrm>
            <a:off x="6096000" y="1270000"/>
            <a:ext cx="5588000" cy="51435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5B7B6A-A02D-704D-A5A3-416485E92158}"/>
              </a:ext>
            </a:extLst>
          </p:cNvPr>
          <p:cNvSpPr txBox="1"/>
          <p:nvPr/>
        </p:nvSpPr>
        <p:spPr>
          <a:xfrm>
            <a:off x="6286500" y="1397000"/>
            <a:ext cx="5207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00066"/>
                </a:solidFill>
                <a:latin typeface="Segoe UI" panose="020B0502040204020203" pitchFamily="34" charset="0"/>
              </a:rPr>
              <a:t>KEY FEATURES AND MARKET INNOVATION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82A0FA-981D-B478-4E75-55552C24981D}"/>
              </a:ext>
            </a:extLst>
          </p:cNvPr>
          <p:cNvSpPr txBox="1"/>
          <p:nvPr/>
        </p:nvSpPr>
        <p:spPr>
          <a:xfrm>
            <a:off x="6286500" y="1841500"/>
            <a:ext cx="5207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1. 100% Local and Air-Gapped Privacy: Runs on local Ollama + Qwen 2.5; zero telemetry leaks to cloud.
2. Tool-Grounded ReAct Loop: Agents must call Sigma/YARA/IOC tools before voting - zero hallucinations.
3. Weighted Consensus and Safety Gate: 8 agents vote with confidence; risk &gt; 80 auto-escalates to human queue.
4. Adaptive Episodic Memory: Remembers past incidents and synthesizes self-learning playbooks.
5. 99.9% MTTR Reduction: Investigation and response in ~1.1 seconds vs 40+ mins manually.</a:t>
            </a:r>
          </a:p>
        </p:txBody>
      </p:sp>
    </p:spTree>
    <p:extLst>
      <p:ext uri="{BB962C8B-B14F-4D97-AF65-F5344CB8AC3E}">
        <p14:creationId xmlns:p14="http://schemas.microsoft.com/office/powerpoint/2010/main" val="104423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4E8C34-8D32-F913-0512-DA6F61FA32EA}"/>
              </a:ext>
            </a:extLst>
          </p:cNvPr>
          <p:cNvSpPr txBox="1"/>
          <p:nvPr/>
        </p:nvSpPr>
        <p:spPr>
          <a:xfrm>
            <a:off x="508000" y="317500"/>
            <a:ext cx="9906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000066"/>
                </a:solidFill>
                <a:latin typeface="Segoe UI" panose="020B0502040204020203" pitchFamily="34" charset="0"/>
              </a:rPr>
              <a:t>SLIDE 4 : TECHNICAL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AA764-3A17-814D-365D-5292D58A34CF}"/>
              </a:ext>
            </a:extLst>
          </p:cNvPr>
          <p:cNvSpPr txBox="1"/>
          <p:nvPr/>
        </p:nvSpPr>
        <p:spPr>
          <a:xfrm>
            <a:off x="9525000" y="317500"/>
            <a:ext cx="215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B600"/>
                </a:solidFill>
                <a:latin typeface="Consolas" panose="020B0609020204030204" pitchFamily="49" charset="0"/>
              </a:rPr>
              <a:t>TUESDAY AI SOC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5DCC2D-8FAB-AD19-51BF-8AA65FBA41CF}"/>
              </a:ext>
            </a:extLst>
          </p:cNvPr>
          <p:cNvCxnSpPr/>
          <p:nvPr/>
        </p:nvCxnSpPr>
        <p:spPr>
          <a:xfrm>
            <a:off x="508000" y="990600"/>
            <a:ext cx="11176000" cy="0"/>
          </a:xfrm>
          <a:prstGeom prst="line">
            <a:avLst/>
          </a:prstGeom>
          <a:ln w="19050">
            <a:solidFill>
              <a:srgbClr val="00B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249ED7B-8A7B-8AE4-AF41-852E1A6205C1}"/>
              </a:ext>
            </a:extLst>
          </p:cNvPr>
          <p:cNvSpPr/>
          <p:nvPr/>
        </p:nvSpPr>
        <p:spPr>
          <a:xfrm>
            <a:off x="508000" y="1270000"/>
            <a:ext cx="6604000" cy="51435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3E1B8-644D-8672-956A-4A2CFA9B8ACF}"/>
              </a:ext>
            </a:extLst>
          </p:cNvPr>
          <p:cNvSpPr txBox="1"/>
          <p:nvPr/>
        </p:nvSpPr>
        <p:spPr>
          <a:xfrm>
            <a:off x="698500" y="1397000"/>
            <a:ext cx="6223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00066"/>
                </a:solidFill>
                <a:latin typeface="Segoe UI" panose="020B0502040204020203" pitchFamily="34" charset="0"/>
              </a:rPr>
              <a:t>ARCHITECTURE FLOW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ACB94-9B8C-865F-7B3C-871A74533711}"/>
              </a:ext>
            </a:extLst>
          </p:cNvPr>
          <p:cNvSpPr txBox="1"/>
          <p:nvPr/>
        </p:nvSpPr>
        <p:spPr>
          <a:xfrm>
            <a:off x="698500" y="1841500"/>
            <a:ext cx="6223000" cy="26776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[RAW SIEM / EDR ALERT] -&gt; HTTP / SSE Stream (/api/incident/stream)
       |
       v
[ORCHESTRATOR] Dispatches 8 Specialized Agents in Parallel
       |
       +---&gt; Log Analysis (Sigma)      +---&gt; Malware Sandbox (YARA)
       +---&gt; Threat Intel (IOC APIs)   +---&gt; Cloud Security (IAM/S3)
       |
       v
[OLLAMA LOCAL REASONING ENGINE] (Qwen 2.5:7b ReAct Tool Loop)
       |  (Automatic Fallback: Rule Engine if LLM offline)
       v
[CONSENSUS &amp; GOVERNANCE] Weighted Confidence -&gt; Auto-Contain OR Human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3B205C-52DA-35D9-935C-EA2A05406B3F}"/>
              </a:ext>
            </a:extLst>
          </p:cNvPr>
          <p:cNvSpPr/>
          <p:nvPr/>
        </p:nvSpPr>
        <p:spPr>
          <a:xfrm>
            <a:off x="7366000" y="1270000"/>
            <a:ext cx="4318000" cy="51435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A8759-1A3D-34D2-EB07-786477C14E15}"/>
              </a:ext>
            </a:extLst>
          </p:cNvPr>
          <p:cNvSpPr txBox="1"/>
          <p:nvPr/>
        </p:nvSpPr>
        <p:spPr>
          <a:xfrm>
            <a:off x="7556500" y="1397000"/>
            <a:ext cx="3937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B600"/>
                </a:solidFill>
                <a:latin typeface="Segoe UI" panose="020B0502040204020203" pitchFamily="34" charset="0"/>
              </a:rPr>
              <a:t>TECHNOLOGY 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E419C4-C08E-33E8-BF20-6BB574B29308}"/>
              </a:ext>
            </a:extLst>
          </p:cNvPr>
          <p:cNvSpPr txBox="1"/>
          <p:nvPr/>
        </p:nvSpPr>
        <p:spPr>
          <a:xfrm>
            <a:off x="7556500" y="1841500"/>
            <a:ext cx="3937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- Backend: Zero-dependency Node.js HTTP Server + SSE Event Bus
- Frontend: Modern Vanilla JS, HTML5, Matrix CSS Theme, Chart.js
- AI LLM Engine: Local Ollama Runtime (qwen2.5:7b / 3b / phi4-mini)
- Tooling: Sigma Rule Engine, YARA Scanner, Asset Graph, IOC Enrichment
- Persistence: JSON Store (data/store.json) for Memory and RL Weights
- Hardware: Standard Workstation / RTX GPU (or CPU via 3B model)</a:t>
            </a:r>
          </a:p>
        </p:txBody>
      </p:sp>
    </p:spTree>
    <p:extLst>
      <p:ext uri="{BB962C8B-B14F-4D97-AF65-F5344CB8AC3E}">
        <p14:creationId xmlns:p14="http://schemas.microsoft.com/office/powerpoint/2010/main" val="557867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BDC349-C46E-AF87-42C8-55DBCE16290E}"/>
              </a:ext>
            </a:extLst>
          </p:cNvPr>
          <p:cNvSpPr txBox="1"/>
          <p:nvPr/>
        </p:nvSpPr>
        <p:spPr>
          <a:xfrm>
            <a:off x="508000" y="317500"/>
            <a:ext cx="9906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000066"/>
                </a:solidFill>
                <a:latin typeface="Segoe UI" panose="020B0502040204020203" pitchFamily="34" charset="0"/>
              </a:rPr>
              <a:t>SLIDE 5 : CURRENT PROGRESS (PROOF OF WORK)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028747-3C41-1DC6-E049-6A2F896CB253}"/>
              </a:ext>
            </a:extLst>
          </p:cNvPr>
          <p:cNvSpPr txBox="1"/>
          <p:nvPr/>
        </p:nvSpPr>
        <p:spPr>
          <a:xfrm>
            <a:off x="9525000" y="317500"/>
            <a:ext cx="215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B600"/>
                </a:solidFill>
                <a:latin typeface="Consolas" panose="020B0609020204030204" pitchFamily="49" charset="0"/>
              </a:rPr>
              <a:t>TUESDAY AI SOC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D933E9-0E9F-822A-7DD2-46388EF1E2DB}"/>
              </a:ext>
            </a:extLst>
          </p:cNvPr>
          <p:cNvCxnSpPr/>
          <p:nvPr/>
        </p:nvCxnSpPr>
        <p:spPr>
          <a:xfrm>
            <a:off x="508000" y="990600"/>
            <a:ext cx="11176000" cy="0"/>
          </a:xfrm>
          <a:prstGeom prst="line">
            <a:avLst/>
          </a:prstGeom>
          <a:ln w="19050">
            <a:solidFill>
              <a:srgbClr val="00B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28D2930-926D-4528-BF5F-DA7560F33298}"/>
              </a:ext>
            </a:extLst>
          </p:cNvPr>
          <p:cNvSpPr/>
          <p:nvPr/>
        </p:nvSpPr>
        <p:spPr>
          <a:xfrm>
            <a:off x="508000" y="1270000"/>
            <a:ext cx="11176000" cy="15240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FC4527-296F-8E1E-6347-187970FDC577}"/>
              </a:ext>
            </a:extLst>
          </p:cNvPr>
          <p:cNvSpPr txBox="1"/>
          <p:nvPr/>
        </p:nvSpPr>
        <p:spPr>
          <a:xfrm>
            <a:off x="698500" y="1397000"/>
            <a:ext cx="10795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00066"/>
                </a:solidFill>
                <a:latin typeface="Segoe UI" panose="020B0502040204020203" pitchFamily="34" charset="0"/>
              </a:rPr>
              <a:t>1. CODEBASE AND REPOSITORY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E86C6-6B39-31E0-264D-08328210B4D9}"/>
              </a:ext>
            </a:extLst>
          </p:cNvPr>
          <p:cNvSpPr txBox="1"/>
          <p:nvPr/>
        </p:nvSpPr>
        <p:spPr>
          <a:xfrm>
            <a:off x="698500" y="1841500"/>
            <a:ext cx="1079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- GitHub Repository: https://github.com/abhijithsura/TUESDAY
- Working Prototype: 100% functional, runnable locally on http://localhost:8090
- Verification Suite: verify.bat automated health check verifies JS syntax, config, store and Ollama model status (ENGINE: LLM AGENTIC qwen2.5:7b).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068445-686A-A5AD-8DD2-3B5BD125DF32}"/>
              </a:ext>
            </a:extLst>
          </p:cNvPr>
          <p:cNvSpPr/>
          <p:nvPr/>
        </p:nvSpPr>
        <p:spPr>
          <a:xfrm>
            <a:off x="508000" y="2921000"/>
            <a:ext cx="11176000" cy="34925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6BA61A-AF59-5F5D-1638-2B49B1822455}"/>
              </a:ext>
            </a:extLst>
          </p:cNvPr>
          <p:cNvSpPr txBox="1"/>
          <p:nvPr/>
        </p:nvSpPr>
        <p:spPr>
          <a:xfrm>
            <a:off x="698500" y="3048000"/>
            <a:ext cx="10795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B600"/>
                </a:solidFill>
                <a:latin typeface="Segoe UI" panose="020B0502040204020203" pitchFamily="34" charset="0"/>
              </a:rPr>
              <a:t>2. COMPLETED FUNCTIONAL UI MODULES AND PROTOTYPE SCREENSHOTS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02A0BE-7130-B00E-20E6-F3A5323F2EED}"/>
              </a:ext>
            </a:extLst>
          </p:cNvPr>
          <p:cNvSpPr txBox="1"/>
          <p:nvPr/>
        </p:nvSpPr>
        <p:spPr>
          <a:xfrm>
            <a:off x="698500" y="3492500"/>
            <a:ext cx="10795000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1. Command Center: Live SIEM Feed, Agent Bus Terminal, Swarm Node Graph, Live MTTR Stopwatch
2. Agent Swarm Workspace: 8 specialized agent cards with Reinforcement Learning weight controls
3. Digital SOC Twin and PCAP: Interactive network canvas topology + Wireshark packet inspector
4. MITRE ATT&amp;CK Matrix: Heatmap with clickable TTP modals, Root Cause Analysis and Kill Chain
5. Human Approval Queue: Escalation governance gate with policy risk threshold sliders
6. Agent Memory and Sandbox: Episodic incident memory, semantic graph, live YARA/Sigma editor
7. Purple Team Simulator: Pre-configured attack drills + custom alert injector form</a:t>
            </a:r>
          </a:p>
        </p:txBody>
      </p:sp>
    </p:spTree>
    <p:extLst>
      <p:ext uri="{BB962C8B-B14F-4D97-AF65-F5344CB8AC3E}">
        <p14:creationId xmlns:p14="http://schemas.microsoft.com/office/powerpoint/2010/main" val="2611410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904AE4-B1DF-566D-D8AF-577384541CB5}"/>
              </a:ext>
            </a:extLst>
          </p:cNvPr>
          <p:cNvSpPr txBox="1"/>
          <p:nvPr/>
        </p:nvSpPr>
        <p:spPr>
          <a:xfrm>
            <a:off x="508000" y="317500"/>
            <a:ext cx="9906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000066"/>
                </a:solidFill>
                <a:latin typeface="Segoe UI" panose="020B0502040204020203" pitchFamily="34" charset="0"/>
              </a:rPr>
              <a:t>SLIDE 6 : LIVE DEMO &amp; VERIFICATION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BD81D-37F0-EA05-0520-AC747F615D68}"/>
              </a:ext>
            </a:extLst>
          </p:cNvPr>
          <p:cNvSpPr txBox="1"/>
          <p:nvPr/>
        </p:nvSpPr>
        <p:spPr>
          <a:xfrm>
            <a:off x="9525000" y="317500"/>
            <a:ext cx="215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B600"/>
                </a:solidFill>
                <a:latin typeface="Consolas" panose="020B0609020204030204" pitchFamily="49" charset="0"/>
              </a:rPr>
              <a:t>TUESDAY AI SOC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F6012-7C23-ED01-E49A-65FB2F6F4B03}"/>
              </a:ext>
            </a:extLst>
          </p:cNvPr>
          <p:cNvCxnSpPr/>
          <p:nvPr/>
        </p:nvCxnSpPr>
        <p:spPr>
          <a:xfrm>
            <a:off x="508000" y="990600"/>
            <a:ext cx="11176000" cy="0"/>
          </a:xfrm>
          <a:prstGeom prst="line">
            <a:avLst/>
          </a:prstGeom>
          <a:ln w="19050">
            <a:solidFill>
              <a:srgbClr val="00B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2DE3BD4-EF30-DD41-6104-C283A2AA4FEB}"/>
              </a:ext>
            </a:extLst>
          </p:cNvPr>
          <p:cNvSpPr/>
          <p:nvPr/>
        </p:nvSpPr>
        <p:spPr>
          <a:xfrm>
            <a:off x="508000" y="1270000"/>
            <a:ext cx="6604000" cy="51435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628285-6C4C-01C3-1307-168F3A98629B}"/>
              </a:ext>
            </a:extLst>
          </p:cNvPr>
          <p:cNvSpPr txBox="1"/>
          <p:nvPr/>
        </p:nvSpPr>
        <p:spPr>
          <a:xfrm>
            <a:off x="698500" y="1397000"/>
            <a:ext cx="6223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00066"/>
                </a:solidFill>
                <a:latin typeface="Segoe UI" panose="020B0502040204020203" pitchFamily="34" charset="0"/>
              </a:rPr>
              <a:t>LIVE DEMO WORKFLOW STEPS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2A192-7C10-3403-8319-B3389F8E9C9E}"/>
              </a:ext>
            </a:extLst>
          </p:cNvPr>
          <p:cNvSpPr txBox="1"/>
          <p:nvPr/>
        </p:nvSpPr>
        <p:spPr>
          <a:xfrm>
            <a:off x="698500" y="1841500"/>
            <a:ext cx="62230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- Attack Ingestion: Trigger LockBit Ransomware, AWS S3 Exfil, or APT Supply Chain drill.
- Live SSE Terminal: Observe 8 agents reasoning, calling tools, and emitting live logs.
- Tool Execution: Watch Sigma rules fire, IOC enrichment execute, and YARA scans pass/fail.
- Consensus Voting: Real-time weighted confidence calculation and risk score generation.
- Governance Gate: High-impact actions escalate to human approval queue; auto-execute on lower risk.
- Report Generation: Click EXECUTIVE REPORT for instant print/PDF or Markdown download.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F92352-9777-D86C-E880-3CDCE61A09CB}"/>
              </a:ext>
            </a:extLst>
          </p:cNvPr>
          <p:cNvSpPr/>
          <p:nvPr/>
        </p:nvSpPr>
        <p:spPr>
          <a:xfrm>
            <a:off x="7366000" y="1270000"/>
            <a:ext cx="4318000" cy="51435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81F16A-D4E5-D0A0-9468-4B3A26B9AB22}"/>
              </a:ext>
            </a:extLst>
          </p:cNvPr>
          <p:cNvSpPr txBox="1"/>
          <p:nvPr/>
        </p:nvSpPr>
        <p:spPr>
          <a:xfrm>
            <a:off x="7556500" y="1397000"/>
            <a:ext cx="3937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B600"/>
                </a:solidFill>
                <a:latin typeface="Segoe UI" panose="020B0502040204020203" pitchFamily="34" charset="0"/>
              </a:rPr>
              <a:t>DEMO RELIABILITY AND OPS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D56129-74AB-98EA-F5DA-63133EF897AA}"/>
              </a:ext>
            </a:extLst>
          </p:cNvPr>
          <p:cNvSpPr txBox="1"/>
          <p:nvPr/>
        </p:nvSpPr>
        <p:spPr>
          <a:xfrm>
            <a:off x="7556500" y="1841500"/>
            <a:ext cx="3937000" cy="21236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- Zero-Dependency Startup: start.bat launches Node server on port 8090 with zero npm install.
- Pre-Demo Health Check: verify.bat confirms model readiness before presentation.
- Fail-Safe Reliability: Automatic fallback to deterministic Rule Engine if LLM is offline - demo NEVER crashes.
- Model Warm-Up: Pre-loads qwen2.5:7b into VRAM at boot for zero-latency initial response.
- Health Probe API: GET /api/health returns liveness, uptime, model status, and pending approvals.</a:t>
            </a:r>
          </a:p>
        </p:txBody>
      </p:sp>
    </p:spTree>
    <p:extLst>
      <p:ext uri="{BB962C8B-B14F-4D97-AF65-F5344CB8AC3E}">
        <p14:creationId xmlns:p14="http://schemas.microsoft.com/office/powerpoint/2010/main" val="1840296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92AB8-E646-8BF8-0668-CF6B77152BEE}"/>
              </a:ext>
            </a:extLst>
          </p:cNvPr>
          <p:cNvSpPr txBox="1"/>
          <p:nvPr/>
        </p:nvSpPr>
        <p:spPr>
          <a:xfrm>
            <a:off x="508000" y="317500"/>
            <a:ext cx="9906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000066"/>
                </a:solidFill>
                <a:latin typeface="Segoe UI" panose="020B0502040204020203" pitchFamily="34" charset="0"/>
              </a:rPr>
              <a:t>SLIDE 7 : CHALLENGES &amp; NEXT DEVELOPMENT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33250-49AD-DC66-2AE2-E380E7350254}"/>
              </a:ext>
            </a:extLst>
          </p:cNvPr>
          <p:cNvSpPr txBox="1"/>
          <p:nvPr/>
        </p:nvSpPr>
        <p:spPr>
          <a:xfrm>
            <a:off x="9525000" y="317500"/>
            <a:ext cx="215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B600"/>
                </a:solidFill>
                <a:latin typeface="Consolas" panose="020B0609020204030204" pitchFamily="49" charset="0"/>
              </a:rPr>
              <a:t>TUESDAY AI SOC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8ED16E-53DB-1A83-15B1-F7DD579F1F0E}"/>
              </a:ext>
            </a:extLst>
          </p:cNvPr>
          <p:cNvCxnSpPr/>
          <p:nvPr/>
        </p:nvCxnSpPr>
        <p:spPr>
          <a:xfrm>
            <a:off x="508000" y="990600"/>
            <a:ext cx="11176000" cy="0"/>
          </a:xfrm>
          <a:prstGeom prst="line">
            <a:avLst/>
          </a:prstGeom>
          <a:ln w="19050">
            <a:solidFill>
              <a:srgbClr val="00B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3129FA0-8B2A-184B-DFD7-F7F55E1B80D9}"/>
              </a:ext>
            </a:extLst>
          </p:cNvPr>
          <p:cNvSpPr/>
          <p:nvPr/>
        </p:nvSpPr>
        <p:spPr>
          <a:xfrm>
            <a:off x="508000" y="1270000"/>
            <a:ext cx="11176000" cy="24130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CC8B5-69FC-B4FF-3B22-4A7AAB3C8117}"/>
              </a:ext>
            </a:extLst>
          </p:cNvPr>
          <p:cNvSpPr txBox="1"/>
          <p:nvPr/>
        </p:nvSpPr>
        <p:spPr>
          <a:xfrm>
            <a:off x="698500" y="1397000"/>
            <a:ext cx="10795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B600"/>
                </a:solidFill>
                <a:latin typeface="Segoe UI" panose="020B0502040204020203" pitchFamily="34" charset="0"/>
              </a:rPr>
              <a:t>CURRENT ENGINEERING CHALLENGES &amp; MITIGATIONS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8DDDE-7F0E-A1C4-729E-BEA4DC80A945}"/>
              </a:ext>
            </a:extLst>
          </p:cNvPr>
          <p:cNvSpPr txBox="1"/>
          <p:nvPr/>
        </p:nvSpPr>
        <p:spPr>
          <a:xfrm>
            <a:off x="698500" y="1841500"/>
            <a:ext cx="10795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1. Model Response Parsing: Small local models (7B) occasionally produce sloppy JSON output -&gt; Solved via robust multi-stage extractJSON() fallback parser.
2. Inference Throughput Bottleneck: Multi-turn LLM reasoning on a single GPU creates queueing under high load -&gt; Mitigated via agent parallelism and prompt token limits.
3. Threat Intel API Limits: Free-tier rate limits on public APIs -&gt; Solved with local Semantic Memory caching.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49CB09-323D-EA0F-1934-D99477425815}"/>
              </a:ext>
            </a:extLst>
          </p:cNvPr>
          <p:cNvSpPr/>
          <p:nvPr/>
        </p:nvSpPr>
        <p:spPr>
          <a:xfrm>
            <a:off x="508000" y="3810000"/>
            <a:ext cx="11176000" cy="26035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CFA614-C51D-9458-8BE0-B448A0949686}"/>
              </a:ext>
            </a:extLst>
          </p:cNvPr>
          <p:cNvSpPr txBox="1"/>
          <p:nvPr/>
        </p:nvSpPr>
        <p:spPr>
          <a:xfrm>
            <a:off x="698500" y="3937000"/>
            <a:ext cx="10795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00066"/>
                </a:solidFill>
                <a:latin typeface="Segoe UI" panose="020B0502040204020203" pitchFamily="34" charset="0"/>
              </a:rPr>
              <a:t>DEVELOPMENT PLAN BEFORE FINAL ROUND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EDCB4-6CE4-7905-00DD-7E684F1D88E9}"/>
              </a:ext>
            </a:extLst>
          </p:cNvPr>
          <p:cNvSpPr txBox="1"/>
          <p:nvPr/>
        </p:nvSpPr>
        <p:spPr>
          <a:xfrm>
            <a:off x="698500" y="4381500"/>
            <a:ext cx="10795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- Live Enterprise Threat Intel Integration: Connect live production VirusTotal and AbuseIPDB API keys.
- SIEM Connector Plugins: Build native webhook ingestion daemons for Splunk, Elastic, and Sentinel.
- Multi-GPU Inference Sharding: Scale Ollama instance pools across multiple worker nodes.
- Expanded Attack Scenarios: Increase purple-team scenario library to 15+ MITRE ATT&amp;CK tactics.
- Final Round Polish: Conduct multi-run benchmark evaluation (benchmark.js) and refine UI charts.</a:t>
            </a:r>
          </a:p>
        </p:txBody>
      </p:sp>
    </p:spTree>
    <p:extLst>
      <p:ext uri="{BB962C8B-B14F-4D97-AF65-F5344CB8AC3E}">
        <p14:creationId xmlns:p14="http://schemas.microsoft.com/office/powerpoint/2010/main" val="1950139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368AFC-8A0B-F2A5-5537-01597A8CB6C5}"/>
              </a:ext>
            </a:extLst>
          </p:cNvPr>
          <p:cNvSpPr txBox="1"/>
          <p:nvPr/>
        </p:nvSpPr>
        <p:spPr>
          <a:xfrm>
            <a:off x="508000" y="317500"/>
            <a:ext cx="9906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000066"/>
                </a:solidFill>
                <a:latin typeface="Segoe UI" panose="020B0502040204020203" pitchFamily="34" charset="0"/>
              </a:rPr>
              <a:t>SLIDE 8 : IMPACT, SCALABILITY &amp;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E92A4-09CA-316F-4864-24940D31AB48}"/>
              </a:ext>
            </a:extLst>
          </p:cNvPr>
          <p:cNvSpPr txBox="1"/>
          <p:nvPr/>
        </p:nvSpPr>
        <p:spPr>
          <a:xfrm>
            <a:off x="9525000" y="317500"/>
            <a:ext cx="215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B600"/>
                </a:solidFill>
                <a:latin typeface="Consolas" panose="020B0609020204030204" pitchFamily="49" charset="0"/>
              </a:rPr>
              <a:t>TUESDAY AI SOC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074A2D-9F53-B855-CA2E-A0056D9CC223}"/>
              </a:ext>
            </a:extLst>
          </p:cNvPr>
          <p:cNvCxnSpPr/>
          <p:nvPr/>
        </p:nvCxnSpPr>
        <p:spPr>
          <a:xfrm>
            <a:off x="508000" y="990600"/>
            <a:ext cx="11176000" cy="0"/>
          </a:xfrm>
          <a:prstGeom prst="line">
            <a:avLst/>
          </a:prstGeom>
          <a:ln w="19050">
            <a:solidFill>
              <a:srgbClr val="00B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37F2898-C479-DA89-F6AC-A72D969FBE1C}"/>
              </a:ext>
            </a:extLst>
          </p:cNvPr>
          <p:cNvSpPr/>
          <p:nvPr/>
        </p:nvSpPr>
        <p:spPr>
          <a:xfrm>
            <a:off x="508000" y="1270000"/>
            <a:ext cx="11176000" cy="15240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165293-3EE5-A230-B43C-DF3EE21D834A}"/>
              </a:ext>
            </a:extLst>
          </p:cNvPr>
          <p:cNvSpPr txBox="1"/>
          <p:nvPr/>
        </p:nvSpPr>
        <p:spPr>
          <a:xfrm>
            <a:off x="698500" y="1397000"/>
            <a:ext cx="10795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00066"/>
                </a:solidFill>
                <a:latin typeface="Segoe UI" panose="020B0502040204020203" pitchFamily="34" charset="0"/>
              </a:rPr>
              <a:t>1. BUSINESS AND SOCIAL 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86E80-2558-AC85-9616-EB8B3AC6CDE8}"/>
              </a:ext>
            </a:extLst>
          </p:cNvPr>
          <p:cNvSpPr txBox="1"/>
          <p:nvPr/>
        </p:nvSpPr>
        <p:spPr>
          <a:xfrm>
            <a:off x="698500" y="1841500"/>
            <a:ext cx="1079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- Quantified Business Impact: Reduces MTTR from ~42 mins to ~1.11 seconds (99.9% reduction). Saves + annually in SOAR licensing and Tier-1 triage costs.
- Social Impact: Democratizes enterprise-grade AI defense for underfunded public sector orgs, schools and SMBs. Keeps sensitive security telemetry 100% local.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F47CF0-E5B7-637F-F512-F01E8C1AEE7D}"/>
              </a:ext>
            </a:extLst>
          </p:cNvPr>
          <p:cNvSpPr/>
          <p:nvPr/>
        </p:nvSpPr>
        <p:spPr>
          <a:xfrm>
            <a:off x="508000" y="2921000"/>
            <a:ext cx="11176000" cy="15240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EB2A8-44A7-A0F7-5279-C185C70221B1}"/>
              </a:ext>
            </a:extLst>
          </p:cNvPr>
          <p:cNvSpPr txBox="1"/>
          <p:nvPr/>
        </p:nvSpPr>
        <p:spPr>
          <a:xfrm>
            <a:off x="698500" y="3048000"/>
            <a:ext cx="10795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B600"/>
                </a:solidFill>
                <a:latin typeface="Segoe UI" panose="020B0502040204020203" pitchFamily="34" charset="0"/>
              </a:rPr>
              <a:t>2. ARCHITECTURAL SCALABILITY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6C5A7F-475D-5A4B-9D11-BE3312B9EA65}"/>
              </a:ext>
            </a:extLst>
          </p:cNvPr>
          <p:cNvSpPr txBox="1"/>
          <p:nvPr/>
        </p:nvSpPr>
        <p:spPr>
          <a:xfrm>
            <a:off x="698500" y="3492500"/>
            <a:ext cx="1079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- Horizontal Worker Scaling: Stateless orchestrator backend easily scales behind load balancers.
- Smart IOC Caching: Memory layer eliminates duplicate external tool calls across incidents.
- Local Model Sharding: Distributes agent inference across standard GPU clusters.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C71C4C-A4D2-F015-4681-9B10EDC77ADF}"/>
              </a:ext>
            </a:extLst>
          </p:cNvPr>
          <p:cNvSpPr/>
          <p:nvPr/>
        </p:nvSpPr>
        <p:spPr>
          <a:xfrm>
            <a:off x="508000" y="4572000"/>
            <a:ext cx="11176000" cy="1841500"/>
          </a:xfrm>
          <a:prstGeom prst="rect">
            <a:avLst/>
          </a:prstGeom>
          <a:solidFill>
            <a:srgbClr val="141C28"/>
          </a:solidFill>
          <a:ln w="12700">
            <a:solidFill>
              <a:srgbClr val="00B4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CF568D-8F7E-43EE-E136-D2F3F19AA8EC}"/>
              </a:ext>
            </a:extLst>
          </p:cNvPr>
          <p:cNvSpPr txBox="1"/>
          <p:nvPr/>
        </p:nvSpPr>
        <p:spPr>
          <a:xfrm>
            <a:off x="698500" y="4699000"/>
            <a:ext cx="10795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00066"/>
                </a:solidFill>
                <a:latin typeface="Segoe UI" panose="020B0502040204020203" pitchFamily="34" charset="0"/>
              </a:rPr>
              <a:t>3. FUTURE SCOPE AND ROADMAP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52C73-19FA-4562-781B-5EB7FF5C373B}"/>
              </a:ext>
            </a:extLst>
          </p:cNvPr>
          <p:cNvSpPr txBox="1"/>
          <p:nvPr/>
        </p:nvSpPr>
        <p:spPr>
          <a:xfrm>
            <a:off x="698500" y="5143500"/>
            <a:ext cx="1079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0F5FA"/>
                </a:solidFill>
                <a:latin typeface="Segoe UI" panose="020B0502040204020203" pitchFamily="34" charset="0"/>
              </a:rPr>
              <a:t>- Autonomous Multi-Cloud Remediation: Deep AWS, Azure and GCP native IAM/security group execution.
- Cross-Enclave Federated Swarms: Privacy-preserving intelligence sharing across organization boundaries.
- Automated Threat Hunting: Proactive memory-driven hypothesis generation and log scanning.</a:t>
            </a:r>
          </a:p>
        </p:txBody>
      </p:sp>
    </p:spTree>
    <p:extLst>
      <p:ext uri="{BB962C8B-B14F-4D97-AF65-F5344CB8AC3E}">
        <p14:creationId xmlns:p14="http://schemas.microsoft.com/office/powerpoint/2010/main" val="699419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1537</Words>
  <Application>Microsoft Office PowerPoint</Application>
  <PresentationFormat>Custom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Abhijith Suresh</dc:creator>
  <cp:lastModifiedBy>Abhijith Suresh</cp:lastModifiedBy>
  <cp:revision>1</cp:revision>
  <dcterms:created xsi:type="dcterms:W3CDTF">2026-08-07T21:23:56Z</dcterms:created>
  <dcterms:modified xsi:type="dcterms:W3CDTF">2026-08-07T21:23:56Z</dcterms:modified>
</cp:coreProperties>
</file>