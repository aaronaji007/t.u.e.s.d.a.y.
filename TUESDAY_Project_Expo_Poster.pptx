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30267275" cy="42794238"/>
  <p:notesSz cx="6888163" cy="10018713"/>
  <p:defaultTextStyle>
    <a:defPPr>
      <a:defRPr lang="en-US"/>
    </a:defPPr>
    <a:lvl1pPr marL="0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87278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74556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61834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49113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36390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23668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10946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698224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79">
          <p15:clr>
            <a:srgbClr val="A4A3A4"/>
          </p15:clr>
        </p15:guide>
        <p15:guide id="2" pos="953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4A60A3-E535-4EAA-B84A-A21829558896}" v="3" dt="2024-04-24T07:34:12.155"/>
  </p1510:revLst>
</p1510:revInfo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60" autoAdjust="0"/>
    <p:restoredTop sz="94676" autoAdjust="0"/>
  </p:normalViewPr>
  <p:slideViewPr>
    <p:cSldViewPr>
      <p:cViewPr>
        <p:scale>
          <a:sx n="30" d="100"/>
          <a:sy n="30" d="100"/>
        </p:scale>
        <p:origin x="1325" y="19"/>
      </p:cViewPr>
      <p:guideLst>
        <p:guide orient="horz" pos="13479"/>
        <p:guide pos="953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079" cy="5016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523" y="0"/>
            <a:ext cx="2985079" cy="5016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41A0F-CB0B-432D-A79D-AFD085F92122}" type="datetimeFigureOut">
              <a:rPr lang="en-IN" smtClean="0"/>
              <a:pPr/>
              <a:t>13-08-2025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49488" y="1252538"/>
            <a:ext cx="23891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505" y="4821035"/>
            <a:ext cx="5511155" cy="394619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7094"/>
            <a:ext cx="2985079" cy="5016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523" y="9517094"/>
            <a:ext cx="2985079" cy="5016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B904DA-12A0-4CF6-8F64-CD1759215A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640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29426517" y="0"/>
            <a:ext cx="840758" cy="427942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840758" cy="427942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30267275" cy="534927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37444959"/>
            <a:ext cx="30267275" cy="53492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9" name="Instructions"/>
          <p:cNvSpPr/>
          <p:nvPr userDrawn="1"/>
        </p:nvSpPr>
        <p:spPr>
          <a:xfrm>
            <a:off x="-12611365" y="0"/>
            <a:ext cx="11770607" cy="427942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7425" tIns="217425" rIns="217425" bIns="217425" rtlCol="0" anchor="t"/>
          <a:lstStyle>
            <a:defPPr>
              <a:defRPr lang="en-US"/>
            </a:defPPr>
            <a:lvl1pPr marL="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4343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8686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53029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37372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921715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106058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90401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74744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spcAft>
                <a:spcPts val="2282"/>
              </a:spcAft>
            </a:pPr>
            <a:endParaRPr lang="en-US" sz="4400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</p:txBody>
      </p:sp>
      <p:sp>
        <p:nvSpPr>
          <p:cNvPr id="13" name="Instructions"/>
          <p:cNvSpPr/>
          <p:nvPr userDrawn="1"/>
        </p:nvSpPr>
        <p:spPr>
          <a:xfrm>
            <a:off x="31108033" y="0"/>
            <a:ext cx="11770607" cy="427942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228600" rIns="228600" bIns="228600" rtlCol="0" anchor="t"/>
          <a:lstStyle>
            <a:defPPr>
              <a:defRPr lang="en-US"/>
            </a:defPPr>
            <a:lvl1pPr marL="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4343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8686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53029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37372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921715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106058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90401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74744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endParaRPr lang="en-US" sz="4400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1037" y="42504519"/>
            <a:ext cx="5297435" cy="18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4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pPr/>
              <a:t>8/13/2025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6651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13364" y="1713754"/>
            <a:ext cx="27240548" cy="7132373"/>
          </a:xfrm>
          <a:prstGeom prst="rect">
            <a:avLst/>
          </a:prstGeom>
        </p:spPr>
        <p:txBody>
          <a:bodyPr vert="horz" lIns="417456" tIns="208727" rIns="417456" bIns="208727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364" y="9985326"/>
            <a:ext cx="27240548" cy="28242219"/>
          </a:xfrm>
          <a:prstGeom prst="rect">
            <a:avLst/>
          </a:prstGeom>
        </p:spPr>
        <p:txBody>
          <a:bodyPr vert="horz" lIns="417456" tIns="208727" rIns="417456" bIns="208727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3364" y="39663922"/>
            <a:ext cx="7062364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l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6BDF-9D0E-4E2B-85B8-D8F4790360C9}" type="datetimeFigureOut">
              <a:rPr lang="en-US" smtClean="0"/>
              <a:pPr/>
              <a:t>8/13/2025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41319" y="39663922"/>
            <a:ext cx="9584637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ct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91547" y="39663922"/>
            <a:ext cx="7062364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075EA-769C-4ECD-B48E-D6FCDC24F87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2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4174556" rtl="0" eaLnBrk="1" latinLnBrk="0" hangingPunct="1">
        <a:spcBef>
          <a:spcPct val="0"/>
        </a:spcBef>
        <a:buNone/>
        <a:defRPr sz="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4850" indent="-434850" algn="l" defTabSz="4174556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69699" indent="-434850" algn="l" defTabSz="4174556" rtl="0" eaLnBrk="1" latinLnBrk="0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04549" indent="-434850" algn="l" defTabSz="4174556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1739398" indent="-434850" algn="l" defTabSz="4174556" rtl="0" eaLnBrk="1" latinLnBrk="0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4pPr>
      <a:lvl5pPr marL="2174248" indent="-434850" algn="l" defTabSz="4174556" rtl="0" eaLnBrk="1" latinLnBrk="0" hangingPunct="1">
        <a:spcBef>
          <a:spcPct val="20000"/>
        </a:spcBef>
        <a:buFont typeface="Arial" pitchFamily="34" charset="0"/>
        <a:buChar char="»"/>
        <a:defRPr sz="3400" kern="1200">
          <a:solidFill>
            <a:schemeClr val="tx1"/>
          </a:solidFill>
          <a:latin typeface="+mn-lt"/>
          <a:ea typeface="+mn-ea"/>
          <a:cs typeface="+mn-cs"/>
        </a:defRPr>
      </a:lvl5pPr>
      <a:lvl6pPr marL="11480029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6pPr>
      <a:lvl7pPr marL="13567307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7pPr>
      <a:lvl8pPr marL="15654585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8pPr>
      <a:lvl9pPr marL="17741863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1pPr>
      <a:lvl2pPr marL="2087278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2pPr>
      <a:lvl3pPr marL="4174556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261834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4pPr>
      <a:lvl5pPr marL="8349113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5pPr>
      <a:lvl6pPr marL="10436390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6pPr>
      <a:lvl7pPr marL="12523668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7pPr>
      <a:lvl8pPr marL="14610946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8pPr>
      <a:lvl9pPr marL="16698224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2"/>
          <p:cNvSpPr txBox="1">
            <a:spLocks noChangeArrowheads="1"/>
          </p:cNvSpPr>
          <p:nvPr/>
        </p:nvSpPr>
        <p:spPr bwMode="auto">
          <a:xfrm>
            <a:off x="5178836" y="656808"/>
            <a:ext cx="21117102" cy="3217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73940" tIns="434850" rIns="173940" bIns="434850" anchor="ctr" anchorCtr="0"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</a:pPr>
            <a:r>
              <a:rPr sz="7200" b="1" i="0">
                <a:solidFill>
                  <a:srgbClr val="0F295C"/>
                </a:solidFill>
                <a:latin typeface="Segoe UI"/>
              </a:rPr>
              <a:t>TUESDAY</a:t>
            </a:r>
            <a:endParaRPr lang="en-US" sz="7200" b="1" dirty="0">
              <a:solidFill>
                <a:schemeClr val="bg1"/>
              </a:solidFill>
              <a:latin typeface="Calibri" pitchFamily="34" charset="0"/>
            </a:endParaRP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3800" b="1" i="0">
                <a:solidFill>
                  <a:srgbClr val="1E40AF"/>
                </a:solidFill>
                <a:latin typeface="Segoe UI"/>
              </a:rPr>
              <a:t>Threat Unification Engine for Security Defense And Your SOC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2800" b="0" i="1">
                <a:solidFill>
                  <a:srgbClr val="475569"/>
                </a:solidFill>
                <a:latin typeface="Segoe UI"/>
              </a:rPr>
              <a:t>An Autonomous, Air-Gapped Multi-Agent AI Ecosystem for Real-Time Threat Triaging &amp; Containment</a:t>
            </a:r>
          </a:p>
        </p:txBody>
      </p:sp>
      <p:sp>
        <p:nvSpPr>
          <p:cNvPr id="5" name="Text Box 123"/>
          <p:cNvSpPr txBox="1">
            <a:spLocks noChangeArrowheads="1"/>
          </p:cNvSpPr>
          <p:nvPr/>
        </p:nvSpPr>
        <p:spPr bwMode="auto">
          <a:xfrm>
            <a:off x="4689077" y="2815990"/>
            <a:ext cx="21117102" cy="3108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73940" tIns="173940" rIns="173940" bIns="173940" anchor="ctr" anchorCtr="0" wrap="square"/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400"/>
              </a:spcAft>
            </a:pPr>
            <a:r>
              <a:rPr sz="3200" b="1" i="0">
                <a:solidFill>
                  <a:srgbClr val="0F295C"/>
                </a:solidFill>
                <a:latin typeface="Calibri"/>
              </a:rPr>
              <a:t>STUDENTS: </a:t>
            </a:r>
            <a:r>
              <a:rPr sz="2900" b="0" i="0">
                <a:solidFill>
                  <a:srgbClr val="1E293B"/>
                </a:solidFill>
                <a:latin typeface="Calibri"/>
              </a:rPr>
              <a:t>Aaron Aji  •  Joseph John  •  Kevin Benny  •  Harigovind  •  Savio Prince  •  Mohammed Sabith  •  Aditya Menon  •  Abhijith Suresh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3200" b="1" i="0">
                <a:solidFill>
                  <a:srgbClr val="0F295C"/>
                </a:solidFill>
                <a:latin typeface="Calibri"/>
              </a:rPr>
              <a:t>Project Guide: </a:t>
            </a:r>
            <a:r>
              <a:rPr sz="3200" b="1" i="0">
                <a:solidFill>
                  <a:srgbClr val="1E40AF"/>
                </a:solidFill>
                <a:latin typeface="Calibri"/>
              </a:rPr>
              <a:t>Ajeesh S</a:t>
            </a:r>
          </a:p>
        </p:txBody>
      </p:sp>
      <p:sp>
        <p:nvSpPr>
          <p:cNvPr id="10" name="Text Box 189"/>
          <p:cNvSpPr txBox="1">
            <a:spLocks noChangeArrowheads="1"/>
          </p:cNvSpPr>
          <p:nvPr/>
        </p:nvSpPr>
        <p:spPr bwMode="auto">
          <a:xfrm>
            <a:off x="1459792" y="7521991"/>
            <a:ext cx="8493710" cy="4660149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lnSpc>
                <a:spcPct val="115000"/>
              </a:lnSpc>
              <a:spcBef>
                <a:spcPts val="300"/>
              </a:spcBef>
              <a:spcAft>
                <a:spcPts val="600"/>
              </a:spcAft>
            </a:pPr>
            <a:r>
              <a:rPr sz="2500" b="1" i="0">
                <a:solidFill>
                  <a:srgbClr val="0F295C"/>
                </a:solidFill>
                <a:latin typeface="Calibri"/>
              </a:rPr>
              <a:t>• SOC Alert Fatigue Crisis: </a:t>
            </a:r>
            <a:r>
              <a:rPr sz="2400" b="0" i="0">
                <a:solidFill>
                  <a:srgbClr val="1E293B"/>
                </a:solidFill>
                <a:latin typeface="Calibri"/>
              </a:rPr>
              <a:t>Modern Security Operations Centers ingest 10,000+ daily alerts from SIEM, EDR, and cloud infrastructure, where &gt;65% are false positives, overwhelming Tier-1 analysts.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600"/>
              </a:spcAft>
            </a:pPr>
            <a:r>
              <a:rPr sz="2500" b="1" i="0">
                <a:solidFill>
                  <a:srgbClr val="0F295C"/>
                </a:solidFill>
                <a:latin typeface="Calibri"/>
              </a:rPr>
              <a:t>• Critical MTTR Response Gap: </a:t>
            </a:r>
            <a:r>
              <a:rPr sz="2400" b="0" i="0">
                <a:solidFill>
                  <a:srgbClr val="1E293B"/>
                </a:solidFill>
                <a:latin typeface="Calibri"/>
              </a:rPr>
              <a:t>Manual investigation takes 15 to 45 minutes per alert. Modern ransomware and APT supply-chain attacks execute lateral movement in &lt;15 minutes, creating a critical defense window.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600"/>
              </a:spcAft>
            </a:pPr>
            <a:r>
              <a:rPr sz="2500" b="1" i="0">
                <a:solidFill>
                  <a:srgbClr val="0F295C"/>
                </a:solidFill>
                <a:latin typeface="Calibri"/>
              </a:rPr>
              <a:t>• Cloud Privacy &amp; Cost Bottlenecks: </a:t>
            </a:r>
            <a:r>
              <a:rPr sz="2400" b="0" i="0">
                <a:solidFill>
                  <a:srgbClr val="1E293B"/>
                </a:solidFill>
                <a:latin typeface="Calibri"/>
              </a:rPr>
              <a:t>Enterprise SOAR licenses exceed $100k+/year and require streaming confidential internal logs to external clouds, violating data sovereignty regulations.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</a:pPr>
            <a:r>
              <a:rPr sz="2500" b="1" i="0">
                <a:solidFill>
                  <a:srgbClr val="1E40AF"/>
                </a:solidFill>
                <a:latin typeface="Calibri"/>
              </a:rPr>
              <a:t>• Proposed Solution: </a:t>
            </a:r>
            <a:r>
              <a:rPr sz="2400" b="0" i="0">
                <a:solidFill>
                  <a:srgbClr val="1E293B"/>
                </a:solidFill>
                <a:latin typeface="Calibri"/>
              </a:rPr>
              <a:t>TUESDAY introduces a 100% air-gapped, local-first multi-agent AI SOC platform running on local Small Language Models (Qwen 2.5:7B) with sub-second deterministic rule fallbacks.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26193" y="6214652"/>
            <a:ext cx="8407576" cy="891547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 wrap="none"/>
          <a:lstStyle/>
          <a:p>
            <a:pPr algn="ctr"/>
            <a:r>
              <a:rPr sz="5000" b="1">
                <a:solidFill>
                  <a:srgbClr val="FFFFFF"/>
                </a:solidFill>
                <a:latin typeface="Segoe UI"/>
              </a:rPr>
              <a:t>Introduction</a:t>
            </a:r>
          </a:p>
        </p:txBody>
      </p:sp>
      <p:sp>
        <p:nvSpPr>
          <p:cNvPr id="15" name="Text Box 194"/>
          <p:cNvSpPr txBox="1">
            <a:spLocks noChangeArrowheads="1"/>
          </p:cNvSpPr>
          <p:nvPr/>
        </p:nvSpPr>
        <p:spPr bwMode="auto">
          <a:xfrm>
            <a:off x="10902525" y="16486885"/>
            <a:ext cx="8407576" cy="1943342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txBody>
          <a:bodyPr lIns="173940" tIns="173940" rIns="173940" bIns="173940"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indent="-571500" algn="l" eaLnBrk="1" hangingPunct="1">
              <a:lnSpc>
                <a:spcPct val="115000"/>
              </a:lnSpc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2500" b="1" i="0">
                <a:solidFill>
                  <a:srgbClr val="0F295C"/>
                </a:solidFill>
                <a:latin typeface="Calibri"/>
              </a:rPr>
              <a:t>• Mean Time to Respond (MTTR) Benchmark:</a:t>
            </a:r>
            <a:r>
              <a:rPr sz="2300" b="0" i="0">
                <a:solidFill>
                  <a:srgbClr val="1E293B"/>
                </a:solidFill>
                <a:latin typeface="Calibri"/>
              </a:rPr>
              <a:t>
  - Human Tier-1 SOC Analyst:  42.5 minutes (2,550s)
  - Commercial Cloud SOAR:     12.0 minutes (720s)
  - TUESDAY Multi-Agent Swarm:   46.2 seconds (0.77m)
  -&gt; Impact: 98.2% Reduction in Mean Time to Respond.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400"/>
              </a:spcAft>
            </a:pPr>
            <a:r>
              <a:rPr sz="2500" b="1" i="0">
                <a:solidFill>
                  <a:srgbClr val="0F295C"/>
                </a:solidFill>
                <a:latin typeface="Calibri"/>
              </a:rPr>
              <a:t>• Multi-Vector Attack Precision &amp; Consensus:</a:t>
            </a:r>
            <a:r>
              <a:rPr sz="2300" b="0" i="0">
                <a:solidFill>
                  <a:srgbClr val="1E293B"/>
                </a:solidFill>
                <a:latin typeface="Calibri"/>
              </a:rPr>
              <a:t>
  - LockBit 3.0 Ransomware:     98.5% detection &amp; consensus rate
  - AWS S3 Exfiltration:        96.2% precision (IAM policy isolation)
  - APT SUNBURST Supply Chain: 95.8% precision with full kill-chain attribution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400"/>
              </a:spcAft>
            </a:pPr>
            <a:r>
              <a:rPr sz="2500" b="1" i="0">
                <a:solidFill>
                  <a:srgbClr val="0F295C"/>
                </a:solidFill>
                <a:latin typeface="Calibri"/>
              </a:rPr>
              <a:t>• Zero Hallucination Guarantee:</a:t>
            </a:r>
            <a:r>
              <a:rPr sz="2300" b="0" i="0">
                <a:solidFill>
                  <a:srgbClr val="1E293B"/>
                </a:solidFill>
                <a:latin typeface="Calibri"/>
              </a:rPr>
              <a:t>
100% of generated containment actions were grounded in verifiable Sigma rules, YARA signatures, and MITRE ATT&amp;CK enterprise TTP alignments.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400"/>
              </a:spcAft>
            </a:pPr>
            <a:r>
              <a:rPr sz="2500" b="1" i="0">
                <a:solidFill>
                  <a:srgbClr val="0F295C"/>
                </a:solidFill>
                <a:latin typeface="Calibri"/>
              </a:rPr>
              <a:t>• Economic Feasibility &amp; ROI:</a:t>
            </a:r>
            <a:r>
              <a:rPr sz="2300" b="0" i="0">
                <a:solidFill>
                  <a:srgbClr val="1E293B"/>
                </a:solidFill>
                <a:latin typeface="Calibri"/>
              </a:rPr>
              <a:t>
Replaces $120,000/yr enterprise SOAR subscriptions and $180,000/yr Tier-1 headcount overhead with an on-premises stack costing &lt;$3,000/yr in hardware amortized compute.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</a:pPr>
            <a:r>
              <a:rPr sz="2500" b="1" i="0">
                <a:solidFill>
                  <a:srgbClr val="0F295C"/>
                </a:solidFill>
                <a:latin typeface="Calibri"/>
              </a:rPr>
              <a:t>• Air-Gapped Integrity:</a:t>
            </a:r>
            <a:r>
              <a:rPr sz="2300" b="0" i="0">
                <a:solidFill>
                  <a:srgbClr val="1E293B"/>
                </a:solidFill>
                <a:latin typeface="Calibri"/>
              </a:rPr>
              <a:t>
Zero outbound network telemetry packets transmitted during live drills, confirming absolute data sovereignty for defense and enterprise SOCs.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96593" y="12756351"/>
            <a:ext cx="8407576" cy="891547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 wrap="none"/>
          <a:lstStyle/>
          <a:p>
            <a:pPr algn="ctr"/>
            <a:r>
              <a:rPr sz="5000" b="1">
                <a:solidFill>
                  <a:srgbClr val="FFFFFF"/>
                </a:solidFill>
                <a:latin typeface="Segoe UI"/>
              </a:rPr>
              <a:t>Objectives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29850" y="6240826"/>
            <a:ext cx="8407576" cy="891547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 wrap="none"/>
          <a:lstStyle/>
          <a:p>
            <a:pPr algn="ctr"/>
            <a:r>
              <a:rPr sz="5000" b="1">
                <a:solidFill>
                  <a:srgbClr val="FFFFFF"/>
                </a:solidFill>
                <a:latin typeface="Segoe UI"/>
              </a:rPr>
              <a:t>Block Diagram / Architecture</a:t>
            </a:r>
          </a:p>
        </p:txBody>
      </p:sp>
      <p:sp>
        <p:nvSpPr>
          <p:cNvPr id="12" name="Text Box 191"/>
          <p:cNvSpPr txBox="1">
            <a:spLocks noChangeArrowheads="1"/>
          </p:cNvSpPr>
          <p:nvPr/>
        </p:nvSpPr>
        <p:spPr bwMode="auto">
          <a:xfrm>
            <a:off x="19705637" y="18064698"/>
            <a:ext cx="8866048" cy="7122362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 algn="l">
              <a:lnSpc>
                <a:spcPct val="115000"/>
              </a:lnSpc>
              <a:spcBef>
                <a:spcPts val="3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2600" b="1" i="0">
                <a:solidFill>
                  <a:srgbClr val="0F295C"/>
                </a:solidFill>
                <a:latin typeface="Calibri"/>
              </a:rPr>
              <a:t>• 1st Place Winner — Cyber Security Track:
</a:t>
            </a:r>
            <a:r>
              <a:rPr sz="2400" b="0" i="0">
                <a:solidFill>
                  <a:srgbClr val="1E293B"/>
                </a:solidFill>
                <a:latin typeface="Calibri"/>
              </a:rPr>
              <a:t>Neurobots National Level Hackathon 2026.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500"/>
              </a:spcAft>
            </a:pPr>
            <a:r>
              <a:rPr sz="2500" b="1" i="0">
                <a:solidFill>
                  <a:srgbClr val="0F295C"/>
                </a:solidFill>
                <a:latin typeface="Calibri"/>
              </a:rPr>
              <a:t>• MITRE ATT&amp;CK Enterprise Alignment: </a:t>
            </a:r>
            <a:r>
              <a:rPr sz="2300" b="0" i="0">
                <a:solidFill>
                  <a:srgbClr val="1E293B"/>
                </a:solidFill>
                <a:latin typeface="Calibri"/>
              </a:rPr>
              <a:t>Automated mapping of adversarial TTPs, root cause analysis, and kill-chain reconstruction.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500"/>
              </a:spcAft>
            </a:pPr>
            <a:r>
              <a:rPr sz="2500" b="1" i="0">
                <a:solidFill>
                  <a:srgbClr val="0F295C"/>
                </a:solidFill>
                <a:latin typeface="Calibri"/>
              </a:rPr>
              <a:t>• Deterministic Fail-Safe Engine: </a:t>
            </a:r>
            <a:r>
              <a:rPr sz="2300" b="0" i="0">
                <a:solidFill>
                  <a:srgbClr val="1E293B"/>
                </a:solidFill>
                <a:latin typeface="Calibri"/>
              </a:rPr>
              <a:t>Zero-downtime failover guarantees high-availability investigation even during LLM offline states.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</a:pPr>
            <a:r>
              <a:rPr sz="2500" b="1" i="0">
                <a:solidFill>
                  <a:srgbClr val="0F295C"/>
                </a:solidFill>
                <a:latin typeface="Calibri"/>
              </a:rPr>
              <a:t>• Self-Learning Episodic Playbooks: </a:t>
            </a:r>
            <a:r>
              <a:rPr sz="2300" b="0" i="0">
                <a:solidFill>
                  <a:srgbClr val="1E293B"/>
                </a:solidFill>
                <a:latin typeface="Calibri"/>
              </a:rPr>
              <a:t>Synthesizes optimized incident playbooks from memory of past attack resolutions.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687598" y="16959969"/>
            <a:ext cx="8902125" cy="891547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 wrap="none"/>
          <a:lstStyle/>
          <a:p>
            <a:pPr algn="ctr"/>
            <a:r>
              <a:rPr sz="5000" b="1">
                <a:solidFill>
                  <a:srgbClr val="FFFFFF"/>
                </a:solidFill>
                <a:latin typeface="Segoe UI"/>
              </a:rPr>
              <a:t>Achievements</a:t>
            </a:r>
          </a:p>
        </p:txBody>
      </p:sp>
      <p:sp>
        <p:nvSpPr>
          <p:cNvPr id="14" name="Text Box 193"/>
          <p:cNvSpPr txBox="1">
            <a:spLocks noChangeArrowheads="1"/>
          </p:cNvSpPr>
          <p:nvPr/>
        </p:nvSpPr>
        <p:spPr bwMode="auto">
          <a:xfrm>
            <a:off x="19705637" y="26814433"/>
            <a:ext cx="8902125" cy="8969021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indent="-571500" algn="l">
              <a:lnSpc>
                <a:spcPct val="115000"/>
              </a:lnSpc>
              <a:spcBef>
                <a:spcPts val="3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2500" b="1" i="0">
                <a:solidFill>
                  <a:srgbClr val="0F295C"/>
                </a:solidFill>
                <a:latin typeface="Calibri"/>
              </a:rPr>
              <a:t>• Validated Autonomous Defense: </a:t>
            </a:r>
            <a:r>
              <a:rPr sz="2300" b="0" i="0">
                <a:solidFill>
                  <a:srgbClr val="1E293B"/>
                </a:solidFill>
                <a:latin typeface="Calibri"/>
              </a:rPr>
              <a:t>Demonstrated that a local-first, multi-agent AI swarm outperforms manual triage in speed, accuracy, and cost while guaranteeing data sovereignty.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500"/>
              </a:spcAft>
            </a:pPr>
            <a:r>
              <a:rPr sz="2500" b="1" i="0">
                <a:solidFill>
                  <a:srgbClr val="0F295C"/>
                </a:solidFill>
                <a:latin typeface="Calibri"/>
              </a:rPr>
              <a:t>• Solves Modern SOC Alert Fatigue: </a:t>
            </a:r>
            <a:r>
              <a:rPr sz="2300" b="0" i="0">
                <a:solidFill>
                  <a:srgbClr val="1E293B"/>
                </a:solidFill>
                <a:latin typeface="Calibri"/>
              </a:rPr>
              <a:t>Eliminates investigation fatigue and slashes the MTTR latency that ransomware operators exploit to execute lateral movement.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500"/>
              </a:spcAft>
            </a:pPr>
            <a:r>
              <a:rPr sz="2500" b="1" i="0">
                <a:solidFill>
                  <a:srgbClr val="0F295C"/>
                </a:solidFill>
                <a:latin typeface="Calibri"/>
              </a:rPr>
              <a:t>• Zero Hallucination via ReAct: </a:t>
            </a:r>
            <a:r>
              <a:rPr sz="2300" b="0" i="0">
                <a:solidFill>
                  <a:srgbClr val="1E293B"/>
                </a:solidFill>
                <a:latin typeface="Calibri"/>
              </a:rPr>
              <a:t>Tool-grounded ReAct loops and mathematical consensus provide safety-critical guarantees necessary for enterprise cybersecurity.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</a:pPr>
            <a:r>
              <a:rPr sz="2500" b="1" i="0">
                <a:solidFill>
                  <a:srgbClr val="1E40AF"/>
                </a:solidFill>
                <a:latin typeface="Calibri"/>
              </a:rPr>
              <a:t>• Future Scope: </a:t>
            </a:r>
            <a:r>
              <a:rPr sz="2300" b="0" i="0">
                <a:solidFill>
                  <a:srgbClr val="1E293B"/>
                </a:solidFill>
                <a:latin typeface="Calibri"/>
              </a:rPr>
              <a:t>Autonomous multi-cloud remediation (AWS/Azure/GCP), federated cross-enclave threat sharing, and proactive memory-driven hunting.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705637" y="25674724"/>
            <a:ext cx="8902125" cy="891547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 wrap="none"/>
          <a:lstStyle/>
          <a:p>
            <a:pPr algn="ctr"/>
            <a:r>
              <a:rPr sz="5000" b="1">
                <a:solidFill>
                  <a:srgbClr val="FFFFFF"/>
                </a:solidFill>
                <a:latin typeface="Segoe UI"/>
              </a:rPr>
              <a:t>Conclusions &amp; Future Scope</a:t>
            </a:r>
          </a:p>
        </p:txBody>
      </p:sp>
      <p:sp>
        <p:nvSpPr>
          <p:cNvPr id="11" name="Text Box 190"/>
          <p:cNvSpPr txBox="1">
            <a:spLocks noChangeArrowheads="1"/>
          </p:cNvSpPr>
          <p:nvPr/>
        </p:nvSpPr>
        <p:spPr bwMode="auto">
          <a:xfrm>
            <a:off x="1496593" y="13730455"/>
            <a:ext cx="8437176" cy="4660149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indent="-571500" algn="l">
              <a:lnSpc>
                <a:spcPct val="115000"/>
              </a:lnSpc>
              <a:spcBef>
                <a:spcPts val="3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2500" b="1" i="0">
                <a:solidFill>
                  <a:srgbClr val="0F295C"/>
                </a:solidFill>
                <a:latin typeface="Calibri"/>
              </a:rPr>
              <a:t>• Autonomous Triaging &amp; MTTR Reduction: </a:t>
            </a:r>
            <a:r>
              <a:rPr sz="2400" b="0" i="0">
                <a:solidFill>
                  <a:srgbClr val="1E293B"/>
                </a:solidFill>
                <a:latin typeface="Calibri"/>
              </a:rPr>
              <a:t>Slash alert triage and containment time from ~42 minutes to under 50 seconds (~98% reduction).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500"/>
              </a:spcAft>
            </a:pPr>
            <a:r>
              <a:rPr sz="2500" b="1" i="0">
                <a:solidFill>
                  <a:srgbClr val="0F295C"/>
                </a:solidFill>
                <a:latin typeface="Calibri"/>
              </a:rPr>
              <a:t>• Air-Gapped &amp; Local Privacy: </a:t>
            </a:r>
            <a:r>
              <a:rPr sz="2400" b="0" i="0">
                <a:solidFill>
                  <a:srgbClr val="1E293B"/>
                </a:solidFill>
                <a:latin typeface="Calibri"/>
              </a:rPr>
              <a:t>Execute 100% on-premises via local Ollama runtime, ensuring zero proprietary security telemetry leaves the perimeter.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500"/>
              </a:spcAft>
            </a:pPr>
            <a:r>
              <a:rPr sz="2500" b="1" i="0">
                <a:solidFill>
                  <a:srgbClr val="0F295C"/>
                </a:solidFill>
                <a:latin typeface="Calibri"/>
              </a:rPr>
              <a:t>• Zero-Hallucination ReAct Architecture: </a:t>
            </a:r>
            <a:r>
              <a:rPr sz="2400" b="0" i="0">
                <a:solidFill>
                  <a:srgbClr val="1E293B"/>
                </a:solidFill>
                <a:latin typeface="Calibri"/>
              </a:rPr>
              <a:t>Mandate deterministic security tool invocations (Sigma rules, YARA scans, IOC reputation lookups) before agents vote.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500"/>
              </a:spcAft>
            </a:pPr>
            <a:r>
              <a:rPr sz="2500" b="1" i="0">
                <a:solidFill>
                  <a:srgbClr val="0F295C"/>
                </a:solidFill>
                <a:latin typeface="Calibri"/>
              </a:rPr>
              <a:t>• Weighted Consensus &amp; Safety Governance: </a:t>
            </a:r>
            <a:r>
              <a:rPr sz="2400" b="0" i="0">
                <a:solidFill>
                  <a:srgbClr val="1E293B"/>
                </a:solidFill>
                <a:latin typeface="Calibri"/>
              </a:rPr>
              <a:t>Mathematically aggregate confidence scores; gate critical infrastructure actions behind operator sign-off.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</a:pPr>
            <a:r>
              <a:rPr sz="2500" b="1" i="0">
                <a:solidFill>
                  <a:srgbClr val="0F295C"/>
                </a:solidFill>
                <a:latin typeface="Calibri"/>
              </a:rPr>
              <a:t>• Adaptive Episodic Memory: </a:t>
            </a:r>
            <a:r>
              <a:rPr sz="2400" b="0" i="0">
                <a:solidFill>
                  <a:srgbClr val="1E293B"/>
                </a:solidFill>
                <a:latin typeface="Calibri"/>
              </a:rPr>
              <a:t>Retain past incident post-mortems and automatically synthesize self-improving playbooks for recurrent attacks.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885165" y="15436459"/>
            <a:ext cx="8407576" cy="1057154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 wrap="none"/>
          <a:lstStyle/>
          <a:p>
            <a:pPr algn="ctr"/>
            <a:r>
              <a:rPr sz="5000" b="1">
                <a:solidFill>
                  <a:srgbClr val="FFFFFF"/>
                </a:solidFill>
                <a:latin typeface="Segoe UI"/>
              </a:rPr>
              <a:t>Results &amp; Benchmarks</a:t>
            </a:r>
          </a:p>
        </p:txBody>
      </p:sp>
      <p:sp>
        <p:nvSpPr>
          <p:cNvPr id="37" name="Text Box 180"/>
          <p:cNvSpPr txBox="1">
            <a:spLocks noChangeArrowheads="1"/>
          </p:cNvSpPr>
          <p:nvPr/>
        </p:nvSpPr>
        <p:spPr bwMode="auto">
          <a:xfrm>
            <a:off x="19934872" y="15554309"/>
            <a:ext cx="8407575" cy="58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6970" tIns="43485" rIns="86970" bIns="43485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3000" b="1" i="0">
                <a:solidFill>
                  <a:srgbClr val="0F295C"/>
                </a:solidFill>
                <a:latin typeface="Calibri"/>
              </a:rPr>
              <a:t>Figure. </a:t>
            </a:r>
            <a:r>
              <a:rPr sz="3000" b="0" i="0">
                <a:solidFill>
                  <a:srgbClr val="1E293B"/>
                </a:solidFill>
                <a:latin typeface="Calibri"/>
              </a:rPr>
              <a:t>TUESDAY System Benchmark, MTTR &amp; Capability Metrics.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E8BFCA-14A6-83B6-118F-8374942074D3}"/>
              </a:ext>
            </a:extLst>
          </p:cNvPr>
          <p:cNvSpPr txBox="1"/>
          <p:nvPr/>
        </p:nvSpPr>
        <p:spPr>
          <a:xfrm>
            <a:off x="23798684" y="2194719"/>
            <a:ext cx="32872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</a:pPr>
            <a:r>
              <a:rPr sz="3600" b="1" i="0">
                <a:solidFill>
                  <a:srgbClr val="0F295C"/>
                </a:solidFill>
                <a:latin typeface="Calibri"/>
              </a:rPr>
              <a:t>Academic Year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3600" b="1" i="0">
                <a:solidFill>
                  <a:srgbClr val="1E40AF"/>
                </a:solidFill>
                <a:latin typeface="Calibri"/>
              </a:rPr>
              <a:t>2025 - 2026</a:t>
            </a:r>
          </a:p>
        </p:txBody>
      </p:sp>
      <p:sp>
        <p:nvSpPr>
          <p:cNvPr id="2" name="Text Box 192">
            <a:extLst>
              <a:ext uri="{FF2B5EF4-FFF2-40B4-BE49-F238E27FC236}">
                <a16:creationId xmlns:a16="http://schemas.microsoft.com/office/drawing/2014/main" id="{A61DF508-1C65-A450-27F3-18BED1886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6593" y="19819977"/>
            <a:ext cx="8370775" cy="15740105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indent="-571500" algn="l" eaLnBrk="1" hangingPunct="1">
              <a:lnSpc>
                <a:spcPct val="115000"/>
              </a:lnSpc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2500" b="1" i="0">
                <a:solidFill>
                  <a:srgbClr val="0F295C"/>
                </a:solidFill>
                <a:latin typeface="Calibri"/>
              </a:rPr>
              <a:t>1. Telemetry Ingestion &amp; Real-Time Event Bus: </a:t>
            </a:r>
            <a:r>
              <a:rPr sz="2300" b="0" i="0">
                <a:solidFill>
                  <a:srgbClr val="1E293B"/>
                </a:solidFill>
                <a:latin typeface="Calibri"/>
              </a:rPr>
              <a:t>
Ingests raw SIEM/EDR alerts (Syslog RFC 5424, Windows Event Logs, CloudWatch, Kafka) through a zero-dependency Node.js HTTP/SSE streaming bus with sub-millisecond dispatch.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400"/>
              </a:spcAft>
            </a:pPr>
            <a:r>
              <a:rPr sz="2500" b="1" i="0">
                <a:solidFill>
                  <a:srgbClr val="0F295C"/>
                </a:solidFill>
                <a:latin typeface="Calibri"/>
              </a:rPr>
              <a:t>2. Parallel Swarm Task Decomposition: </a:t>
            </a:r>
            <a:r>
              <a:rPr sz="2300" b="0" i="0">
                <a:solidFill>
                  <a:srgbClr val="1E293B"/>
                </a:solidFill>
                <a:latin typeface="Calibri"/>
              </a:rPr>
              <a:t>
The stateless orchestrator partitions alert context across 8 specialized AI agents operating in parallel: Log Analysis, Malware Detonation, Threat Intel, Cloud Security, Network Forensics, Digital Twin, Risk Scoring, and Governance.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400"/>
              </a:spcAft>
            </a:pPr>
            <a:r>
              <a:rPr sz="2500" b="1" i="0">
                <a:solidFill>
                  <a:srgbClr val="0F295C"/>
                </a:solidFill>
                <a:latin typeface="Calibri"/>
              </a:rPr>
              <a:t>3. Tool-Grounded ReAct Loop (Zero Hallucination): </a:t>
            </a:r>
            <a:r>
              <a:rPr sz="2300" b="0" i="0">
                <a:solidFill>
                  <a:srgbClr val="1E293B"/>
                </a:solidFill>
                <a:latin typeface="Calibri"/>
              </a:rPr>
              <a:t>
Agents cannot guess or hallucinate. Each agent follows an iterative Reason + Act loop executing verified tools: Sigma rule matching, YARA binary inspection, and IOC reputation enrichment before forming conclusions.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400"/>
              </a:spcAft>
            </a:pPr>
            <a:r>
              <a:rPr sz="2500" b="1" i="0">
                <a:solidFill>
                  <a:srgbClr val="0F295C"/>
                </a:solidFill>
                <a:latin typeface="Calibri"/>
              </a:rPr>
              <a:t>4. Dual-Engine Local AI Inference: </a:t>
            </a:r>
            <a:r>
              <a:rPr sz="2300" b="0" i="0">
                <a:solidFill>
                  <a:srgbClr val="1E293B"/>
                </a:solidFill>
                <a:latin typeface="Calibri"/>
              </a:rPr>
              <a:t>
Agent reasoning is executed on local Ollama (Qwen 2.5:7B) with VRAM pre-warming (&lt;50ms initial latency). An automated failover router switches to a deterministic Sigma/heuristic rule engine if LLM is offline, guaranteeing 100% demo reliability.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400"/>
              </a:spcAft>
            </a:pPr>
            <a:r>
              <a:rPr sz="2500" b="1" i="0">
                <a:solidFill>
                  <a:srgbClr val="0F295C"/>
                </a:solidFill>
                <a:latin typeface="Calibri"/>
              </a:rPr>
              <a:t>5. Mathematical Weighted Consensus Formulation: </a:t>
            </a:r>
            <a:r>
              <a:rPr sz="2300" b="0" i="0">
                <a:solidFill>
                  <a:srgbClr val="1E293B"/>
                </a:solidFill>
                <a:latin typeface="Calibri"/>
              </a:rPr>
              <a:t>
Agents cast votes weighted by Reinforcement Learning reliability (w_i) and confidence (c_i). Global risk score is mathematically computed:
</a:t>
            </a:r>
            <a:r>
              <a:rPr sz="2400" b="1" i="0">
                <a:solidFill>
                  <a:srgbClr val="1E40AF"/>
                </a:solidFill>
                <a:latin typeface="Calibri"/>
              </a:rPr>
              <a:t>      R_global = Σ (w_i • r_i • c_i)  for i = 1 to 8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</a:pPr>
            <a:r>
              <a:rPr sz="2500" b="1" i="0">
                <a:solidFill>
                  <a:srgbClr val="0F295C"/>
                </a:solidFill>
                <a:latin typeface="Calibri"/>
              </a:rPr>
              <a:t>6. Dual-Mode Governance &amp; Autonomous Remediation: </a:t>
            </a:r>
            <a:r>
              <a:rPr sz="2300" b="0" i="0">
                <a:solidFill>
                  <a:srgbClr val="1E293B"/>
                </a:solidFill>
                <a:latin typeface="Calibri"/>
              </a:rPr>
              <a:t>
• Risk &gt; 80: High-impact actions escalate to human approval queue with 1-click containment.
• Risk ≤ 80: Autonomous execution of dynamic firewall blocks, process termination, and asset isolation.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7A76A2-7086-F67B-3B5B-E4B2358F737B}"/>
              </a:ext>
            </a:extLst>
          </p:cNvPr>
          <p:cNvSpPr/>
          <p:nvPr/>
        </p:nvSpPr>
        <p:spPr>
          <a:xfrm>
            <a:off x="1496593" y="18598952"/>
            <a:ext cx="8407576" cy="891547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 wrap="none"/>
          <a:lstStyle/>
          <a:p>
            <a:pPr algn="ctr"/>
            <a:r>
              <a:rPr sz="5000" b="1">
                <a:solidFill>
                  <a:srgbClr val="FFFFFF"/>
                </a:solidFill>
                <a:latin typeface="Segoe UI"/>
              </a:rPr>
              <a:t>Methodology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40FF09-EF9E-BC97-DF2B-11CB246DF9B2}"/>
              </a:ext>
            </a:extLst>
          </p:cNvPr>
          <p:cNvSpPr txBox="1"/>
          <p:nvPr/>
        </p:nvSpPr>
        <p:spPr>
          <a:xfrm>
            <a:off x="227981" y="39628162"/>
            <a:ext cx="3003929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200"/>
              </a:spcAft>
            </a:pPr>
            <a:r>
              <a:rPr sz="5600" b="1" i="0">
                <a:solidFill>
                  <a:srgbClr val="0F295C"/>
                </a:solidFill>
                <a:latin typeface="Segoe UI"/>
              </a:rPr>
              <a:t>DEPARTMENT OF COMPUTER SCIENCE &amp; ENGINEERING / CYBERSECURITY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4000" b="1" i="0">
                <a:solidFill>
                  <a:srgbClr val="475569"/>
                </a:solidFill>
                <a:latin typeface="Segoe UI"/>
              </a:rPr>
              <a:t>CHRIST COLLEGE OF ENGINEERING, IRINJALAKUDA  •  (NBA ACCREDITED)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6B48A12-AED4-73EA-6A91-1F843C8F3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37" y="1"/>
            <a:ext cx="5139242" cy="5322510"/>
          </a:xfrm>
          <a:prstGeom prst="rect">
            <a:avLst/>
          </a:prstGeom>
        </p:spPr>
      </p:pic>
      <p:pic>
        <p:nvPicPr>
          <p:cNvPr id="46" name="Picture 45" descr="tuesday_architecture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6689" y="7871822"/>
            <a:ext cx="8401878" cy="6541714"/>
          </a:xfrm>
          <a:prstGeom prst="rect">
            <a:avLst/>
          </a:prstGeom>
        </p:spPr>
      </p:pic>
      <p:pic>
        <p:nvPicPr>
          <p:cNvPr id="47" name="Picture 46" descr="tuesday_benchmark_fig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27968" y="6680981"/>
            <a:ext cx="8057462" cy="798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251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2857</TotalTime>
  <Words>49</Words>
  <Application>Microsoft Office PowerPoint</Application>
  <PresentationFormat>Custom</PresentationFormat>
  <Paragraphs>107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Aharoni</vt:lpstr>
      <vt:lpstr>-apple-system</vt:lpstr>
      <vt:lpstr>Arial</vt:lpstr>
      <vt:lpstr>Calibri</vt:lpstr>
      <vt:lpstr>Office Theme</vt:lpstr>
      <vt:lpstr>PowerPoint Presentation</vt:lpstr>
    </vt:vector>
  </TitlesOfParts>
  <Company>Genigraphics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Genigraphics Research Poster Template A0/A1</dc:title>
  <dc:creator>Jay Larson</dc:creator>
  <dc:description>Quality poster printing
www.genigraphics.com
1-800-790-4001</dc:description>
  <cp:lastModifiedBy>Vinitha ev</cp:lastModifiedBy>
  <cp:revision>83</cp:revision>
  <cp:lastPrinted>2023-09-26T08:20:09Z</cp:lastPrinted>
  <dcterms:created xsi:type="dcterms:W3CDTF">2013-02-10T21:14:48Z</dcterms:created>
  <dcterms:modified xsi:type="dcterms:W3CDTF">2025-08-13T04:14:14Z</dcterms:modified>
</cp:coreProperties>
</file>